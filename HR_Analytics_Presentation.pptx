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9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942"/>
                </a:solidFill>
                <a:latin typeface="Arial"/>
              </a:rPr>
              <a:t>Attrition Rate by Department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29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R&amp;D</c:v>
                  </c:pt>
                  <c:pt idx="2">
                    <c:v>Human Resources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16.8</c:v>
                </c:pt>
                <c:pt idx="1">
                  <c:v>16.2</c:v>
                </c:pt>
                <c:pt idx="2">
                  <c:v>14.3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29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29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Stagnant 5+yrs</c:v>
                  </c:pt>
                  <c:pt idx="1">
                    <c:v>Promoted &lt;5yrs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3.14</c:v>
                </c:pt>
                <c:pt idx="1">
                  <c:v>3.16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Involvement</c:v>
                </c:pt>
              </c:strCache>
            </c:strRef>
          </c:tx>
          <c:spPr>
            <a:solidFill>
              <a:srgbClr val="AED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29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Stagnant 5+yrs</c:v>
                  </c:pt>
                  <c:pt idx="1">
                    <c:v>Promoted &lt;5yrs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2.52</c:v>
                </c:pt>
                <c:pt idx="1">
                  <c:v>2.47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29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0292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Employee Attrition Analysis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Bekibaeva Aigerim  •  Kunduzbekova Perizat  •  Aidai Totoeva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Course  |  Lecturer: Nargiza Zhumalieva  |  April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4572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457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645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normalized tables from IBM HR Analytics dataset with 1,470 employees each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645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cleaning pipeline, indexing strategy, and stored procedures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54864" cy="1645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17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insights via complex JOIN queries, Views, and Procedures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" cy="1645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2920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3832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delivering HR insights on demand through automated SQL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Database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8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47472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19659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474720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517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per 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347472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375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3375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3474720" cy="566928"/>
          </a:xfrm>
          <a:prstGeom prst="rect">
            <a:avLst/>
          </a:prstGeom>
          <a:solidFill>
            <a:srgbClr val="F8FA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233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0233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 (3NF)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46304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463040"/>
            <a:ext cx="228600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99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emp_personal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7739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Entity (PK)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67128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167128"/>
            <a:ext cx="22860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emp_job_details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478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&amp; Role Info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871216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871216"/>
            <a:ext cx="228600" cy="594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emp_financial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182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Benefits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575304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575304"/>
            <a:ext cx="228600" cy="5943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emp_feedback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886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279392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4279392"/>
            <a:ext cx="2286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emp_tenure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4590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 + Attrition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Problem Statements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Talent Retention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high-earning employees in specific departments leaving at a higher rate?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&amp; Overtime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frequent overtime destroying employee morale and work-life balance?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02336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Stagnation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employees without promotions for 5+ years become disengaged?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0233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Demographics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long commutes affect attrition differently across life stages?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033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stored procedure generated 1,470 rows per table using realistic statistical distributions matching original IBM HR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914400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659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25880" y="20391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3774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logical inconsistencies: tenure fields capped at YearsInCompany, negative values floored to 0, age validated ≥ 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91440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30449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3832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indexes on Department, OverTime, Attrition, DistanceFromHome, MaritalStatus — reducing full-table scans to index lookups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77640"/>
            <a:ext cx="914400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776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25880" y="40507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Procedures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38912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SQL Views + 4 Stored Procedures encapsulate complex multi-table JOINs and aggregations for each problem statement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High-Value Talent Retention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005840"/>
            <a:ext cx="73152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1097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71500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Attrition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2402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240280"/>
            <a:ext cx="73152" cy="10515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$10,132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71500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Avg Income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77840" y="347472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3474720"/>
            <a:ext cx="73152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71500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Employees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526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Recommendation: Focus retention strategies on Sales — highest attrition despite similar income levels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Overtime vs Work-Life Balance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ect">
            <a:avLst/>
          </a:prstGeom>
          <a:solidFill>
            <a:srgbClr val="EAFAF1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 Overtime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2.53/4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1455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2.46/4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89534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023360" cy="3931920"/>
          </a:xfrm>
          <a:prstGeom prst="rect">
            <a:avLst/>
          </a:prstGeom>
          <a:solidFill>
            <a:srgbClr val="FDEDEC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YES Overtime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1645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395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2.49/4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455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1455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2.44/4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8953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389534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72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Overtime workers leave 2.2% more — across 397 OT employees, that equals ~9 extra departures per year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&amp; 4: Stagnation + Distance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Promotion Stagnation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41732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794760"/>
            <a:ext cx="393192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 employees (38.8%) stagnant  |  Attrition: 15.8% both groups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914400"/>
            <a:ext cx="4297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4: Distance &amp; Demographics (&gt;15 miles)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17720" y="1463040"/>
            <a:ext cx="4160520" cy="502920"/>
          </a:xfrm>
          <a:prstGeom prst="rect">
            <a:avLst/>
          </a:prstGeom>
          <a:solidFill>
            <a:srgbClr val="F8FAFB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| 18-25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17720" y="201168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| 26-35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17720" y="2560320"/>
            <a:ext cx="4160520" cy="502920"/>
          </a:xfrm>
          <a:prstGeom prst="rect">
            <a:avLst/>
          </a:prstGeom>
          <a:solidFill>
            <a:srgbClr val="F8FAFB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Divorced | 26-35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0" y="2560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17720" y="310896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Divorced | 46+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0" y="3108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17720" y="3657600"/>
            <a:ext cx="4160520" cy="502920"/>
          </a:xfrm>
          <a:prstGeom prst="rect">
            <a:avLst/>
          </a:prstGeom>
          <a:solidFill>
            <a:srgbClr val="F8FAFB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| 18-25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9808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617720" y="420624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Divorced | 18-25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0" y="4206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617720" y="3858768"/>
            <a:ext cx="4160520" cy="50292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9160" y="385876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Single 18-25 highest risk — offer remote work!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Agent — Telegram Bot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/insight1 to bot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queries MySQL via SQLAlchemy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formats the result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840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returns data + recommendation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4023360" cy="109728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67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Commands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/insight1  /insight2  /insight3  /insight4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/all  — runs all 4 insights at once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206240" cy="4069080"/>
          </a:xfrm>
          <a:prstGeom prst="rect">
            <a:avLst/>
          </a:prstGeom>
          <a:solidFill>
            <a:srgbClr val="E7F5E7"/>
          </a:solidFill>
          <a:ln w="12700">
            <a:solidFill>
              <a:srgbClr val="C2E0C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@hr_aiAgentBot — Live Output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141732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D4EDDA"/>
          </a:solidFill>
          <a:ln w="12700">
            <a:solidFill>
              <a:srgbClr val="C2D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1152" y="141732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938528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2D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938528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Running all 4 insights...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459736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2D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459736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INSIGHT 1: High-Value Talent Retention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Sales — 507 employees | $10,132 avg income | 16.8% attrition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Focus retention on Sales!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529584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2D3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529584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INSIGHT 2: Overtime vs Balance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OT Yes: 17.4% attrition | WLB 2.49/4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OT No: 15.2% attrition | WLB 2.53/4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0332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dept has highest attrition (16.8%)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Conduct exit interviews, review commission structures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161288"/>
            <a:ext cx="2834640" cy="457200"/>
          </a:xfrm>
          <a:prstGeom prst="rect">
            <a:avLst/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1612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in bot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4767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47672"/>
            <a:ext cx="73152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47672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020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workers leave 2.2% more often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404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 mandatory overtime, introduce flexible scheduling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148840"/>
            <a:ext cx="2834640" cy="45720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148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in bot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35224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35224"/>
            <a:ext cx="73152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35224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0083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 of staff stagnant 5+ years without promotion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3924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lateral mobility and development pathways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3136392"/>
            <a:ext cx="283464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136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in bot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22776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922776"/>
            <a:ext cx="7315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22776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3995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18-25 far commuters: 22% attrition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3799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Offer remote/hybrid work for at-risk demographics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4123944"/>
            <a:ext cx="2834640" cy="45720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41239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in bot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61288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33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normalized schema with PK/FK relationships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48840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020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3865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rows per table, 5 tables, full referential integrity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35224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36392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008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3741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constraints, negative value correction, consistency checks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22776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123944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995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4361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indexes on high-traffic columns for query optimization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161288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1033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Procedures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13990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SQL Views + 4 Stored Procedures covering all problem statements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94767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148840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2020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MySQL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23865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with SQLAlchemy connection via Unix socket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35224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136392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21808" y="3008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AI Bot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21808" y="33741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/insight1–4 and /all commands with live SQL-powered responses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22776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4123944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21808" y="3995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21808" y="4361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Research-style report covering methodology and findings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36576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— AI-Powered Employee Attrition Analysis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Bekibaeva Aigerim  •  Kunduzbekova Perizat  •  Aidai Totoeva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Course  |  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926080" cy="2743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9.6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80760" y="1947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80760" y="229514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SQLAlchemy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80760" y="26426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Jupyter Notebook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80760" y="2990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Telegram Bot API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8076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- DB Final Project</dc:title>
  <dc:subject>PptxGenJS Presentation</dc:subject>
  <dc:creator>PptxGenJS</dc:creator>
  <cp:lastModifiedBy>PptxGenJS</cp:lastModifiedBy>
  <cp:revision>1</cp:revision>
  <dcterms:created xsi:type="dcterms:W3CDTF">2026-04-28T20:04:41Z</dcterms:created>
  <dcterms:modified xsi:type="dcterms:W3CDTF">2026-04-28T20:04:41Z</dcterms:modified>
</cp:coreProperties>
</file>